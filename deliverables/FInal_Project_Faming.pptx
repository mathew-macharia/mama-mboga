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82" d="100"/>
          <a:sy n="82" d="100"/>
        </p:scale>
        <p:origin x="56" y="3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523B-7879-413D-B974-4EA8BAD8717A}"/>
              </a:ext>
            </a:extLst>
          </p:cNvPr>
          <p:cNvSpPr>
            <a:spLocks noGrp="1"/>
          </p:cNvSpPr>
          <p:nvPr>
            <p:ph type="ctrTitle"/>
          </p:nvPr>
        </p:nvSpPr>
        <p:spPr>
          <a:xfrm>
            <a:off x="1524000" y="1122363"/>
            <a:ext cx="9144000" cy="2387600"/>
          </a:xfrm>
        </p:spPr>
        <p:txBody>
          <a:bodyPr anchor="b"/>
          <a:lstStyle>
            <a:lvl1pPr algn="ctr">
              <a:defRPr sz="60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8425677C-C4F4-4003-8081-2CA323FE87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EBDFB6-B844-410B-871F-A9547EC777E1}"/>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F125EE92-8782-4771-BBA2-385EC3B1CF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FC773E-0593-4E3E-A921-36876FFE5ABB}"/>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9C71CC2-94AB-45BF-B83B-6D0466401FA9}"/>
              </a:ext>
            </a:extLst>
          </p:cNvPr>
          <p:cNvPicPr>
            <a:picLocks noChangeAspect="1"/>
          </p:cNvPicPr>
          <p:nvPr userDrawn="1"/>
        </p:nvPicPr>
        <p:blipFill>
          <a:blip r:embed="rId2">
            <a:alphaModFix amt="65000"/>
            <a:extLst>
              <a:ext uri="{28A0092B-C50C-407E-A947-70E740481C1C}">
                <a14:useLocalDpi xmlns:a14="http://schemas.microsoft.com/office/drawing/2010/main" val="0"/>
              </a:ext>
            </a:extLst>
          </a:blip>
          <a:stretch>
            <a:fillRect/>
          </a:stretch>
        </p:blipFill>
        <p:spPr>
          <a:xfrm>
            <a:off x="4927011" y="4160648"/>
            <a:ext cx="2337977" cy="2094067"/>
          </a:xfrm>
          <a:prstGeom prst="rect">
            <a:avLst/>
          </a:prstGeom>
        </p:spPr>
      </p:pic>
    </p:spTree>
    <p:extLst>
      <p:ext uri="{BB962C8B-B14F-4D97-AF65-F5344CB8AC3E}">
        <p14:creationId xmlns:p14="http://schemas.microsoft.com/office/powerpoint/2010/main" val="2612379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7FE9E-2EAE-47F7-9BCF-8CE6618938C9}"/>
              </a:ext>
            </a:extLst>
          </p:cNvPr>
          <p:cNvSpPr>
            <a:spLocks noGrp="1"/>
          </p:cNvSpPr>
          <p:nvPr>
            <p:ph type="title"/>
          </p:nvPr>
        </p:nvSpPr>
        <p:spPr/>
        <p:txBody>
          <a:bodyPr/>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0DA83C7-1BAA-4632-825D-9DCD8B8E62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7E41AA-741F-4EC6-A497-D1DEB1011FD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5366A5DD-EB46-4E38-9B93-2ED8D93DF6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5B6A07-A0C0-4565-90CD-83F9F70E5348}"/>
              </a:ext>
            </a:extLst>
          </p:cNvPr>
          <p:cNvSpPr>
            <a:spLocks noGrp="1"/>
          </p:cNvSpPr>
          <p:nvPr>
            <p:ph type="sldNum" sz="quarter" idx="12"/>
          </p:nvPr>
        </p:nvSpPr>
        <p:spPr/>
        <p:txBody>
          <a:bodyPr/>
          <a:lstStyle/>
          <a:p>
            <a:fld id="{95C122ED-C147-4045-89CD-7A79E332317A}" type="slidenum">
              <a:rPr lang="en-US" smtClean="0"/>
              <a:t>‹#›</a:t>
            </a:fld>
            <a:endParaRPr lang="en-US"/>
          </a:p>
        </p:txBody>
      </p:sp>
      <p:pic>
        <p:nvPicPr>
          <p:cNvPr id="8" name="Picture 7" descr="A picture containing food&#10;&#10;Description automatically generated">
            <a:extLst>
              <a:ext uri="{FF2B5EF4-FFF2-40B4-BE49-F238E27FC236}">
                <a16:creationId xmlns:a16="http://schemas.microsoft.com/office/drawing/2014/main" id="{C30AFC61-666A-4D08-AE3C-1B79355EEE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300905" y="6176962"/>
            <a:ext cx="760362" cy="681037"/>
          </a:xfrm>
          <a:prstGeom prst="rect">
            <a:avLst/>
          </a:prstGeom>
        </p:spPr>
      </p:pic>
    </p:spTree>
    <p:extLst>
      <p:ext uri="{BB962C8B-B14F-4D97-AF65-F5344CB8AC3E}">
        <p14:creationId xmlns:p14="http://schemas.microsoft.com/office/powerpoint/2010/main" val="4095702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21F54-45A7-436C-80E0-91459F5EB1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856C5C-9625-46C6-8DA5-CF58A2EE5F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9031E8-BC8F-4753-ADB3-A0C48167311C}"/>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2A239F8A-1350-48EF-BD37-666B5D1EF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09524A-BFD0-4E76-8617-E50C51C351AA}"/>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93456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2AE11-2AFB-47A4-890C-4991DBBD22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0517F6-26BF-477B-80F4-8E1AF66459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706272-9F06-4612-8B6C-5BF50CEC5F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41C4EC-9929-4DCE-8A0D-128E9BE0D9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1CEDA14C-6B80-472E-AE8A-5D71B925C6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770449-5253-4B20-A1CC-AC3677333F4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059888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D58E8-F72B-4C5B-B31E-C39070112F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EEA8A5-4B13-4A06-872D-F1A3232627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5C7779-F8D2-4F64-8095-FDFC56CDB06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13D80E-A482-4598-B0B0-6FEE61ED80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45DEA-EBE2-463A-92B3-1568092887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32383A-BEA2-439D-9016-2DE5062144BB}"/>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8" name="Footer Placeholder 7">
            <a:extLst>
              <a:ext uri="{FF2B5EF4-FFF2-40B4-BE49-F238E27FC236}">
                <a16:creationId xmlns:a16="http://schemas.microsoft.com/office/drawing/2014/main" id="{00DF060A-F869-4CFC-BEC9-436E45FDCE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F742A3-A4B8-4F34-A226-2F317C64C61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742312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7E50-68E4-4AEB-AD2D-D5ED555A31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B69AFB-C8BF-4C66-A4EA-4147AED45409}"/>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4" name="Footer Placeholder 3">
            <a:extLst>
              <a:ext uri="{FF2B5EF4-FFF2-40B4-BE49-F238E27FC236}">
                <a16:creationId xmlns:a16="http://schemas.microsoft.com/office/drawing/2014/main" id="{5C105508-0742-43E9-BA29-7E405D3D41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3C142E-3D1A-427B-BA6B-7A453D4ED1FB}"/>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71691706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6004DB-86FF-4B67-B3C9-DC35E0ECD4E4}"/>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3" name="Footer Placeholder 2">
            <a:extLst>
              <a:ext uri="{FF2B5EF4-FFF2-40B4-BE49-F238E27FC236}">
                <a16:creationId xmlns:a16="http://schemas.microsoft.com/office/drawing/2014/main" id="{D86352AE-C1A3-4B2F-8F0B-8EABFF9C55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106BA80-BCAF-48E5-8D07-8A059E56039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516406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7D035-D8A0-4FC2-8F79-526FBF59B4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F7B67-0FB4-4620-BBDF-658857E7B5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D8C51-DF6F-46A4-9232-C95714472E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4AC53C-DB51-4743-9D99-B8CD2B2524A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64DBC3D-49AC-4011-B820-F3F7EA5185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9B0DDC-539E-4D00-84DA-89041EC6425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344479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BBC2-B05A-46ED-A241-BA9E3E8802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6BAD30-E81E-48D0-B564-9BBAA44091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80F4405-7CFA-4985-B5B7-6189705A0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DC5395-E644-4646-8327-ED7327EE59E7}"/>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6" name="Footer Placeholder 5">
            <a:extLst>
              <a:ext uri="{FF2B5EF4-FFF2-40B4-BE49-F238E27FC236}">
                <a16:creationId xmlns:a16="http://schemas.microsoft.com/office/drawing/2014/main" id="{870660FA-4807-411B-BA30-E201D8286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0283C1-EF9F-4823-A56C-8799FE4DC975}"/>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1984709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D5838-557A-4543-B7AE-4E7E629898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3BF8E1-259C-46CA-B233-0F947B7C7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DB938-4651-49A6-AD85-87C5B7F2D9FA}"/>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A04DE878-AAF8-481F-9EB6-7B3F33BB36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72BD8B-7F3E-4F5D-A953-764469667066}"/>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2250029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DDCDF4-4D7A-4375-A309-354D24F5A7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573EB7-28A0-4361-9CDB-35C28ADE8A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1F066A-E6EE-4F7B-8FC5-BE9B2CAB186F}"/>
              </a:ext>
            </a:extLst>
          </p:cNvPr>
          <p:cNvSpPr>
            <a:spLocks noGrp="1"/>
          </p:cNvSpPr>
          <p:nvPr>
            <p:ph type="dt" sz="half" idx="10"/>
          </p:nvPr>
        </p:nvSpPr>
        <p:spPr/>
        <p:txBody>
          <a:body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E8B6381A-C118-4E62-BF37-EA0EBD626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CEB07-AD06-45B6-9855-C8B2A45EE0A0}"/>
              </a:ext>
            </a:extLst>
          </p:cNvPr>
          <p:cNvSpPr>
            <a:spLocks noGrp="1"/>
          </p:cNvSpPr>
          <p:nvPr>
            <p:ph type="sldNum" sz="quarter" idx="12"/>
          </p:nvPr>
        </p:nvSpPr>
        <p:spPr/>
        <p:txBody>
          <a:bodyPr/>
          <a:lstStyle/>
          <a:p>
            <a:fld id="{95C122ED-C147-4045-89CD-7A79E332317A}" type="slidenum">
              <a:rPr lang="en-US" smtClean="0"/>
              <a:t>‹#›</a:t>
            </a:fld>
            <a:endParaRPr lang="en-US"/>
          </a:p>
        </p:txBody>
      </p:sp>
    </p:spTree>
    <p:extLst>
      <p:ext uri="{BB962C8B-B14F-4D97-AF65-F5344CB8AC3E}">
        <p14:creationId xmlns:p14="http://schemas.microsoft.com/office/powerpoint/2010/main" val="411556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7978F9-BCFE-4189-A0A8-446CC99C09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51A654-BA2D-4FB0-851C-76683F8C5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5C5A9-AB1C-4D1E-873E-AB223D54F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11CC1C-E4D1-4E15-90A8-C95BF9B87F70}" type="datetimeFigureOut">
              <a:rPr lang="en-US" smtClean="0"/>
              <a:t>12/18/2025</a:t>
            </a:fld>
            <a:endParaRPr lang="en-US"/>
          </a:p>
        </p:txBody>
      </p:sp>
      <p:sp>
        <p:nvSpPr>
          <p:cNvPr id="5" name="Footer Placeholder 4">
            <a:extLst>
              <a:ext uri="{FF2B5EF4-FFF2-40B4-BE49-F238E27FC236}">
                <a16:creationId xmlns:a16="http://schemas.microsoft.com/office/drawing/2014/main" id="{1BA9A757-4B5D-46F4-872F-32AE4B103C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DCCE750-2D47-4D77-93E0-297723B38C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C122ED-C147-4045-89CD-7A79E332317A}" type="slidenum">
              <a:rPr lang="en-US" smtClean="0"/>
              <a:t>‹#›</a:t>
            </a:fld>
            <a:endParaRPr lang="en-US"/>
          </a:p>
        </p:txBody>
      </p:sp>
      <p:pic>
        <p:nvPicPr>
          <p:cNvPr id="8" name="Picture 7">
            <a:extLst>
              <a:ext uri="{FF2B5EF4-FFF2-40B4-BE49-F238E27FC236}">
                <a16:creationId xmlns:a16="http://schemas.microsoft.com/office/drawing/2014/main" id="{09F43C55-1C86-4C11-A83E-15C62D47465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056"/>
            <a:ext cx="12192000" cy="298450"/>
          </a:xfrm>
          <a:prstGeom prst="rect">
            <a:avLst/>
          </a:prstGeom>
        </p:spPr>
      </p:pic>
    </p:spTree>
    <p:extLst>
      <p:ext uri="{BB962C8B-B14F-4D97-AF65-F5344CB8AC3E}">
        <p14:creationId xmlns:p14="http://schemas.microsoft.com/office/powerpoint/2010/main" val="4199795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D9CD8-14E7-4A95-99DB-B02DBD937ACA}"/>
              </a:ext>
            </a:extLst>
          </p:cNvPr>
          <p:cNvSpPr>
            <a:spLocks noGrp="1"/>
          </p:cNvSpPr>
          <p:nvPr>
            <p:ph type="ctrTitle"/>
          </p:nvPr>
        </p:nvSpPr>
        <p:spPr/>
        <p:txBody>
          <a:bodyPr/>
          <a:lstStyle/>
          <a:p>
            <a:r>
              <a:rPr lang="en-US" dirty="0"/>
              <a:t>Mathew Kamande Macharia</a:t>
            </a:r>
          </a:p>
        </p:txBody>
      </p:sp>
      <p:sp>
        <p:nvSpPr>
          <p:cNvPr id="3" name="Subtitle 2">
            <a:extLst>
              <a:ext uri="{FF2B5EF4-FFF2-40B4-BE49-F238E27FC236}">
                <a16:creationId xmlns:a16="http://schemas.microsoft.com/office/drawing/2014/main" id="{ED535F16-4A24-4AED-8DB2-DAA4BCFBE2CF}"/>
              </a:ext>
            </a:extLst>
          </p:cNvPr>
          <p:cNvSpPr>
            <a:spLocks noGrp="1"/>
          </p:cNvSpPr>
          <p:nvPr>
            <p:ph type="subTitle" idx="1"/>
          </p:nvPr>
        </p:nvSpPr>
        <p:spPr/>
        <p:txBody>
          <a:bodyPr vert="horz" lIns="91440" tIns="45720" rIns="91440" bIns="45720" rtlCol="0" anchor="t">
            <a:normAutofit/>
          </a:bodyPr>
          <a:lstStyle/>
          <a:p>
            <a:r>
              <a:rPr lang="en-US" dirty="0"/>
              <a:t>Web Tech Summer 2025 Final Exams</a:t>
            </a:r>
          </a:p>
        </p:txBody>
      </p:sp>
    </p:spTree>
    <p:extLst>
      <p:ext uri="{BB962C8B-B14F-4D97-AF65-F5344CB8AC3E}">
        <p14:creationId xmlns:p14="http://schemas.microsoft.com/office/powerpoint/2010/main" val="1741095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F5CAFA-01D7-4C9A-B6E2-3E744EA7D38B}"/>
              </a:ext>
            </a:extLst>
          </p:cNvPr>
          <p:cNvSpPr>
            <a:spLocks noGrp="1"/>
          </p:cNvSpPr>
          <p:nvPr>
            <p:ph type="title"/>
          </p:nvPr>
        </p:nvSpPr>
        <p:spPr>
          <a:xfrm>
            <a:off x="831850" y="1709738"/>
            <a:ext cx="10515600" cy="2852737"/>
          </a:xfrm>
        </p:spPr>
        <p:txBody>
          <a:bodyPr anchor="b">
            <a:normAutofit/>
          </a:bodyPr>
          <a:lstStyle/>
          <a:p>
            <a:r>
              <a:rPr lang="en-GB" sz="3200" dirty="0"/>
              <a:t>Mathew Macharia is developing a data‑powered website to help </a:t>
            </a:r>
            <a:r>
              <a:rPr lang="en-GB" sz="3200" b="1" dirty="0"/>
              <a:t>small market vendors </a:t>
            </a:r>
            <a:r>
              <a:rPr lang="en-GB" sz="3200" dirty="0"/>
              <a:t>(“mama </a:t>
            </a:r>
            <a:r>
              <a:rPr lang="en-GB" sz="3200" dirty="0" err="1"/>
              <a:t>mbogas</a:t>
            </a:r>
            <a:r>
              <a:rPr lang="en-GB" sz="3200" dirty="0"/>
              <a:t>”) in Kenya track credit sales and customer debts, so they </a:t>
            </a:r>
            <a:r>
              <a:rPr lang="en-GB" sz="3200" b="1" dirty="0"/>
              <a:t>stop losing money to forgotten</a:t>
            </a:r>
            <a:r>
              <a:rPr lang="en-GB" sz="3200" dirty="0"/>
              <a:t> or </a:t>
            </a:r>
            <a:r>
              <a:rPr lang="en-GB" sz="3200" b="1" dirty="0"/>
              <a:t>poorly recorded credit</a:t>
            </a:r>
            <a:r>
              <a:rPr lang="en-GB" sz="3200" dirty="0"/>
              <a:t>.</a:t>
            </a:r>
            <a:br>
              <a:rPr lang="en-US" sz="3200" i="1" dirty="0">
                <a:effectLst/>
              </a:rPr>
            </a:br>
            <a:endParaRPr lang="en-US" sz="3200" dirty="0"/>
          </a:p>
        </p:txBody>
      </p:sp>
      <p:sp>
        <p:nvSpPr>
          <p:cNvPr id="9" name="Text Placeholder 2">
            <a:extLst>
              <a:ext uri="{FF2B5EF4-FFF2-40B4-BE49-F238E27FC236}">
                <a16:creationId xmlns:a16="http://schemas.microsoft.com/office/drawing/2014/main" id="{E8ED7AE9-F1AD-4DAF-AD81-ED38A088D24C}"/>
              </a:ext>
            </a:extLst>
          </p:cNvPr>
          <p:cNvSpPr>
            <a:spLocks noGrp="1"/>
          </p:cNvSpPr>
          <p:nvPr>
            <p:ph type="body" idx="1"/>
          </p:nvPr>
        </p:nvSpPr>
        <p:spPr>
          <a:xfrm>
            <a:off x="831850" y="4589463"/>
            <a:ext cx="10515600" cy="1500187"/>
          </a:xfrm>
        </p:spPr>
        <p:txBody>
          <a:bodyPr/>
          <a:lstStyle/>
          <a:p>
            <a:endParaRPr lang="en-US"/>
          </a:p>
        </p:txBody>
      </p:sp>
    </p:spTree>
    <p:extLst>
      <p:ext uri="{BB962C8B-B14F-4D97-AF65-F5344CB8AC3E}">
        <p14:creationId xmlns:p14="http://schemas.microsoft.com/office/powerpoint/2010/main" val="2238724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23;p26">
            <a:extLst>
              <a:ext uri="{FF2B5EF4-FFF2-40B4-BE49-F238E27FC236}">
                <a16:creationId xmlns:a16="http://schemas.microsoft.com/office/drawing/2014/main" id="{57EC8ECB-684B-4A65-B563-F2A77E7CD0CA}"/>
              </a:ext>
            </a:extLst>
          </p:cNvPr>
          <p:cNvSpPr/>
          <p:nvPr/>
        </p:nvSpPr>
        <p:spPr>
          <a:xfrm>
            <a:off x="5356888" y="4159076"/>
            <a:ext cx="3494100" cy="19464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124;p26">
            <a:extLst>
              <a:ext uri="{FF2B5EF4-FFF2-40B4-BE49-F238E27FC236}">
                <a16:creationId xmlns:a16="http://schemas.microsoft.com/office/drawing/2014/main" id="{45854F39-C3A4-489F-B694-859EFBCDAE4E}"/>
              </a:ext>
            </a:extLst>
          </p:cNvPr>
          <p:cNvSpPr txBox="1"/>
          <p:nvPr/>
        </p:nvSpPr>
        <p:spPr>
          <a:xfrm>
            <a:off x="5386300" y="4233075"/>
            <a:ext cx="3378900" cy="1561500"/>
          </a:xfrm>
          <a:prstGeom prst="rect">
            <a:avLst/>
          </a:prstGeom>
          <a:solidFill>
            <a:schemeClr val="lt1">
              <a:alpha val="7176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PAYOFF:</a:t>
            </a:r>
          </a:p>
          <a:p>
            <a:pPr lvl="0"/>
            <a:r>
              <a:rPr lang="en-GB" sz="1100" dirty="0"/>
              <a:t>The website gives each vendor a clear dashboard showing total receivables, number of customers, and a ranked list of top debtors, plus per‑customer history of sales and payments. This makes it easy to follow up on debts, plan cash flow, and send professional email reminders.</a:t>
            </a:r>
            <a:endParaRPr sz="1100" dirty="0">
              <a:solidFill>
                <a:schemeClr val="dk1"/>
              </a:solidFill>
              <a:latin typeface="Calibri"/>
              <a:ea typeface="Calibri"/>
              <a:cs typeface="Calibri"/>
              <a:sym typeface="Calibri"/>
            </a:endParaRPr>
          </a:p>
        </p:txBody>
      </p:sp>
      <p:sp>
        <p:nvSpPr>
          <p:cNvPr id="9" name="Google Shape;125;p26">
            <a:extLst>
              <a:ext uri="{FF2B5EF4-FFF2-40B4-BE49-F238E27FC236}">
                <a16:creationId xmlns:a16="http://schemas.microsoft.com/office/drawing/2014/main" id="{2EB20A92-289A-4F1B-83EA-557EBD087A84}"/>
              </a:ext>
            </a:extLst>
          </p:cNvPr>
          <p:cNvSpPr/>
          <p:nvPr/>
        </p:nvSpPr>
        <p:spPr>
          <a:xfrm>
            <a:off x="613950" y="4297674"/>
            <a:ext cx="2246700" cy="1807801"/>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 name="Google Shape;126;p26">
            <a:extLst>
              <a:ext uri="{FF2B5EF4-FFF2-40B4-BE49-F238E27FC236}">
                <a16:creationId xmlns:a16="http://schemas.microsoft.com/office/drawing/2014/main" id="{B6422191-D8D6-4EF8-AD22-99BAE3525359}"/>
              </a:ext>
            </a:extLst>
          </p:cNvPr>
          <p:cNvSpPr/>
          <p:nvPr/>
        </p:nvSpPr>
        <p:spPr>
          <a:xfrm>
            <a:off x="2985425" y="4297575"/>
            <a:ext cx="2246700" cy="16692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127;p26">
            <a:extLst>
              <a:ext uri="{FF2B5EF4-FFF2-40B4-BE49-F238E27FC236}">
                <a16:creationId xmlns:a16="http://schemas.microsoft.com/office/drawing/2014/main" id="{ECAEDEC5-3BA7-4814-897E-199FE3D53B02}"/>
              </a:ext>
            </a:extLst>
          </p:cNvPr>
          <p:cNvSpPr/>
          <p:nvPr/>
        </p:nvSpPr>
        <p:spPr>
          <a:xfrm>
            <a:off x="8875950" y="4297575"/>
            <a:ext cx="2280530" cy="1946400"/>
          </a:xfrm>
          <a:prstGeom prst="rect">
            <a:avLst/>
          </a:prstGeom>
          <a:no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 name="Google Shape;128;p26">
            <a:extLst>
              <a:ext uri="{FF2B5EF4-FFF2-40B4-BE49-F238E27FC236}">
                <a16:creationId xmlns:a16="http://schemas.microsoft.com/office/drawing/2014/main" id="{B0376552-4BDD-431F-A63E-87A711EAE56C}"/>
              </a:ext>
            </a:extLst>
          </p:cNvPr>
          <p:cNvSpPr txBox="1">
            <a:spLocks/>
          </p:cNvSpPr>
          <p:nvPr/>
        </p:nvSpPr>
        <p:spPr>
          <a:xfrm>
            <a:off x="0" y="549275"/>
            <a:ext cx="11360150" cy="852488"/>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chemeClr val="dk1"/>
              </a:buClr>
              <a:buSzPts val="4400"/>
              <a:buFont typeface="Calibri"/>
              <a:buNone/>
            </a:pPr>
            <a:r>
              <a:rPr lang="en-US" dirty="0">
                <a:solidFill>
                  <a:schemeClr val="dk1"/>
                </a:solidFill>
                <a:latin typeface="Calibri"/>
                <a:ea typeface="Calibri"/>
                <a:cs typeface="Calibri"/>
                <a:sym typeface="Calibri"/>
              </a:rPr>
              <a:t>Project Title</a:t>
            </a:r>
          </a:p>
        </p:txBody>
      </p:sp>
      <p:sp>
        <p:nvSpPr>
          <p:cNvPr id="17" name="Google Shape;129;p26">
            <a:extLst>
              <a:ext uri="{FF2B5EF4-FFF2-40B4-BE49-F238E27FC236}">
                <a16:creationId xmlns:a16="http://schemas.microsoft.com/office/drawing/2014/main" id="{70D74D4C-F466-4D68-B611-FB3F56811959}"/>
              </a:ext>
            </a:extLst>
          </p:cNvPr>
          <p:cNvSpPr/>
          <p:nvPr/>
        </p:nvSpPr>
        <p:spPr>
          <a:xfrm>
            <a:off x="613950" y="1776550"/>
            <a:ext cx="2246700" cy="23514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err="1">
                <a:solidFill>
                  <a:schemeClr val="lt1"/>
                </a:solidFill>
                <a:latin typeface="Calibri"/>
                <a:ea typeface="Calibri"/>
                <a:cs typeface="Calibri"/>
                <a:sym typeface="Calibri"/>
              </a:rPr>
              <a:t>ddd</a:t>
            </a:r>
            <a:endParaRPr sz="1800" b="0" i="0" u="none" strike="noStrike" cap="none" dirty="0">
              <a:solidFill>
                <a:schemeClr val="lt1"/>
              </a:solidFill>
              <a:latin typeface="Calibri"/>
              <a:ea typeface="Calibri"/>
              <a:cs typeface="Calibri"/>
              <a:sym typeface="Calibri"/>
            </a:endParaRPr>
          </a:p>
        </p:txBody>
      </p:sp>
      <p:sp>
        <p:nvSpPr>
          <p:cNvPr id="19" name="Google Shape;130;p26">
            <a:extLst>
              <a:ext uri="{FF2B5EF4-FFF2-40B4-BE49-F238E27FC236}">
                <a16:creationId xmlns:a16="http://schemas.microsoft.com/office/drawing/2014/main" id="{89D1F58D-E1F6-4C92-A957-8FDF219B4EC6}"/>
              </a:ext>
            </a:extLst>
          </p:cNvPr>
          <p:cNvSpPr/>
          <p:nvPr/>
        </p:nvSpPr>
        <p:spPr>
          <a:xfrm>
            <a:off x="5342700" y="836025"/>
            <a:ext cx="3378900" cy="31845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 name="Google Shape;131;p26">
            <a:extLst>
              <a:ext uri="{FF2B5EF4-FFF2-40B4-BE49-F238E27FC236}">
                <a16:creationId xmlns:a16="http://schemas.microsoft.com/office/drawing/2014/main" id="{72D1F283-2A04-4B78-8A09-3A40D4BBD068}"/>
              </a:ext>
            </a:extLst>
          </p:cNvPr>
          <p:cNvSpPr/>
          <p:nvPr/>
        </p:nvSpPr>
        <p:spPr>
          <a:xfrm>
            <a:off x="2978325" y="1776550"/>
            <a:ext cx="2246700" cy="2351400"/>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132;p26">
            <a:extLst>
              <a:ext uri="{FF2B5EF4-FFF2-40B4-BE49-F238E27FC236}">
                <a16:creationId xmlns:a16="http://schemas.microsoft.com/office/drawing/2014/main" id="{362BD806-9FF3-4E4F-99B8-E69451D993A2}"/>
              </a:ext>
            </a:extLst>
          </p:cNvPr>
          <p:cNvSpPr/>
          <p:nvPr/>
        </p:nvSpPr>
        <p:spPr>
          <a:xfrm>
            <a:off x="8839280" y="1139125"/>
            <a:ext cx="2317200" cy="2896708"/>
          </a:xfrm>
          <a:prstGeom prst="roundRect">
            <a:avLst>
              <a:gd name="adj" fmla="val 16667"/>
            </a:avLst>
          </a:prstGeom>
          <a:noFill/>
          <a:ln w="28575"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133;p26">
            <a:extLst>
              <a:ext uri="{FF2B5EF4-FFF2-40B4-BE49-F238E27FC236}">
                <a16:creationId xmlns:a16="http://schemas.microsoft.com/office/drawing/2014/main" id="{3F4E89E7-ABA2-466A-B1F8-0CA4BEBEDA3D}"/>
              </a:ext>
            </a:extLst>
          </p:cNvPr>
          <p:cNvSpPr txBox="1"/>
          <p:nvPr/>
        </p:nvSpPr>
        <p:spPr>
          <a:xfrm>
            <a:off x="690550" y="4373101"/>
            <a:ext cx="2143800" cy="1259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dirty="0">
                <a:solidFill>
                  <a:schemeClr val="dk1"/>
                </a:solidFill>
                <a:latin typeface="Calibri"/>
                <a:ea typeface="Calibri"/>
                <a:cs typeface="Calibri"/>
                <a:sym typeface="Calibri"/>
              </a:rPr>
              <a:t>PERSONA</a:t>
            </a:r>
            <a:r>
              <a:rPr lang="en-US" sz="1200" dirty="0">
                <a:solidFill>
                  <a:schemeClr val="dk1"/>
                </a:solidFill>
                <a:latin typeface="Calibri"/>
                <a:ea typeface="Calibri"/>
                <a:cs typeface="Calibri"/>
                <a:sym typeface="Calibri"/>
              </a:rPr>
              <a:t>(s) </a:t>
            </a:r>
            <a:endParaRPr lang="en-US" sz="1200" i="1" dirty="0">
              <a:solidFill>
                <a:schemeClr val="dk1"/>
              </a:solidFill>
              <a:latin typeface="Calibri"/>
              <a:ea typeface="Calibri"/>
              <a:cs typeface="Calibri"/>
              <a:sym typeface="Calibri"/>
            </a:endParaRPr>
          </a:p>
          <a:p>
            <a:pPr lvl="0"/>
            <a:r>
              <a:rPr lang="en-GB" sz="1100" dirty="0"/>
              <a:t>Small informal grocery and vegetable vendors in local markets who regularly allow trusted customers to buy on credit. Many run one‑person stalls, keep paper notebooks, and have limited time or technical training.</a:t>
            </a:r>
            <a:endParaRPr sz="1100" i="1" dirty="0">
              <a:solidFill>
                <a:schemeClr val="dk1"/>
              </a:solidFill>
              <a:latin typeface="Calibri"/>
              <a:ea typeface="Calibri"/>
              <a:cs typeface="Calibri"/>
              <a:sym typeface="Calibri"/>
            </a:endParaRPr>
          </a:p>
        </p:txBody>
      </p:sp>
      <p:sp>
        <p:nvSpPr>
          <p:cNvPr id="27" name="Google Shape;134;p26">
            <a:extLst>
              <a:ext uri="{FF2B5EF4-FFF2-40B4-BE49-F238E27FC236}">
                <a16:creationId xmlns:a16="http://schemas.microsoft.com/office/drawing/2014/main" id="{7FCFFFAA-E5F2-46D8-8DAA-857512D7D290}"/>
              </a:ext>
            </a:extLst>
          </p:cNvPr>
          <p:cNvSpPr txBox="1"/>
          <p:nvPr/>
        </p:nvSpPr>
        <p:spPr>
          <a:xfrm>
            <a:off x="2985413" y="4297675"/>
            <a:ext cx="2173762" cy="180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PROBLEM:</a:t>
            </a:r>
            <a:endParaRPr lang="en-US" sz="1200" i="1" dirty="0">
              <a:solidFill>
                <a:schemeClr val="dk1"/>
              </a:solidFill>
              <a:latin typeface="Calibri"/>
              <a:ea typeface="Calibri"/>
              <a:cs typeface="Calibri"/>
              <a:sym typeface="Calibri"/>
            </a:endParaRPr>
          </a:p>
          <a:p>
            <a:pPr lvl="0"/>
            <a:r>
              <a:rPr lang="en-GB" sz="1100" dirty="0"/>
              <a:t>Today, these vendors record debts in notebooks or memory. Pages get torn or lost, entries are messy, and they can’t quickly see who owes what. This leads to forgotten debts, disputes with customers, and poor visibility into total money outstanding.</a:t>
            </a:r>
            <a:endParaRPr sz="1100" dirty="0">
              <a:solidFill>
                <a:schemeClr val="dk1"/>
              </a:solidFill>
              <a:latin typeface="Calibri"/>
              <a:ea typeface="Calibri"/>
              <a:cs typeface="Calibri"/>
              <a:sym typeface="Calibri"/>
            </a:endParaRPr>
          </a:p>
        </p:txBody>
      </p:sp>
      <p:sp>
        <p:nvSpPr>
          <p:cNvPr id="29" name="Google Shape;135;p26">
            <a:extLst>
              <a:ext uri="{FF2B5EF4-FFF2-40B4-BE49-F238E27FC236}">
                <a16:creationId xmlns:a16="http://schemas.microsoft.com/office/drawing/2014/main" id="{663C807B-3501-4A1A-B45B-BCE89ED53D86}"/>
              </a:ext>
            </a:extLst>
          </p:cNvPr>
          <p:cNvSpPr txBox="1"/>
          <p:nvPr/>
        </p:nvSpPr>
        <p:spPr>
          <a:xfrm>
            <a:off x="8875975" y="4373101"/>
            <a:ext cx="2143800" cy="1416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dirty="0">
                <a:solidFill>
                  <a:schemeClr val="dk1"/>
                </a:solidFill>
                <a:latin typeface="Calibri"/>
                <a:ea typeface="Calibri"/>
                <a:cs typeface="Calibri"/>
                <a:sym typeface="Calibri"/>
              </a:rPr>
              <a:t>FINISH</a:t>
            </a:r>
            <a:endParaRPr lang="en-US" sz="1200" i="1" dirty="0">
              <a:solidFill>
                <a:schemeClr val="dk1"/>
              </a:solidFill>
              <a:latin typeface="Calibri"/>
              <a:ea typeface="Calibri"/>
              <a:cs typeface="Calibri"/>
              <a:sym typeface="Calibri"/>
            </a:endParaRPr>
          </a:p>
          <a:p>
            <a:pPr lvl="0"/>
            <a:r>
              <a:rPr lang="en-GB" sz="1100" dirty="0"/>
              <a:t>Vendors are better off because debts are organized, easy to find, and harder to forget. They spend less time hunting through notebooks, recover more money they are owed, and present a more professional experience to their customers.</a:t>
            </a:r>
            <a:endParaRPr sz="1100" i="1" dirty="0">
              <a:solidFill>
                <a:schemeClr val="dk1"/>
              </a:solidFill>
              <a:latin typeface="Calibri"/>
              <a:ea typeface="Calibri"/>
              <a:cs typeface="Calibri"/>
              <a:sym typeface="Calibri"/>
            </a:endParaRPr>
          </a:p>
        </p:txBody>
      </p:sp>
      <p:pic>
        <p:nvPicPr>
          <p:cNvPr id="3" name="Picture 2" descr="A screenshot of a phone&#10;&#10;AI-generated content may be incorrect.">
            <a:extLst>
              <a:ext uri="{FF2B5EF4-FFF2-40B4-BE49-F238E27FC236}">
                <a16:creationId xmlns:a16="http://schemas.microsoft.com/office/drawing/2014/main" id="{ACA148BF-91AE-3093-0C90-0B53B3752044}"/>
              </a:ext>
            </a:extLst>
          </p:cNvPr>
          <p:cNvPicPr>
            <a:picLocks noChangeAspect="1"/>
          </p:cNvPicPr>
          <p:nvPr/>
        </p:nvPicPr>
        <p:blipFill>
          <a:blip r:embed="rId2">
            <a:extLst>
              <a:ext uri="{28A0092B-C50C-407E-A947-70E740481C1C}">
                <a14:useLocalDpi xmlns:a14="http://schemas.microsoft.com/office/drawing/2010/main" val="0"/>
              </a:ext>
            </a:extLst>
          </a:blip>
          <a:srcRect l="-1" t="8450" r="1117" b="3673"/>
          <a:stretch>
            <a:fillRect/>
          </a:stretch>
        </p:blipFill>
        <p:spPr>
          <a:xfrm>
            <a:off x="6096001" y="937577"/>
            <a:ext cx="1611074" cy="2984597"/>
          </a:xfrm>
          <a:prstGeom prst="rect">
            <a:avLst/>
          </a:prstGeom>
        </p:spPr>
      </p:pic>
      <p:pic>
        <p:nvPicPr>
          <p:cNvPr id="6" name="Picture 5" descr="A person in a market&#10;&#10;AI-generated content may be incorrect.">
            <a:extLst>
              <a:ext uri="{FF2B5EF4-FFF2-40B4-BE49-F238E27FC236}">
                <a16:creationId xmlns:a16="http://schemas.microsoft.com/office/drawing/2014/main" id="{D6943543-C290-716B-CA5A-7D22BAE19E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3920" y="2051897"/>
            <a:ext cx="1795769" cy="1795769"/>
          </a:xfrm>
          <a:prstGeom prst="rect">
            <a:avLst/>
          </a:prstGeom>
        </p:spPr>
      </p:pic>
      <p:pic>
        <p:nvPicPr>
          <p:cNvPr id="10" name="Picture 9" descr="A person standing behind a pile of fruits&#10;&#10;AI-generated content may be incorrect.">
            <a:extLst>
              <a:ext uri="{FF2B5EF4-FFF2-40B4-BE49-F238E27FC236}">
                <a16:creationId xmlns:a16="http://schemas.microsoft.com/office/drawing/2014/main" id="{164A58D6-F081-CA9F-26DB-646527F3428A}"/>
              </a:ext>
            </a:extLst>
          </p:cNvPr>
          <p:cNvPicPr>
            <a:picLocks noChangeAspect="1"/>
          </p:cNvPicPr>
          <p:nvPr/>
        </p:nvPicPr>
        <p:blipFill>
          <a:blip r:embed="rId4">
            <a:extLst>
              <a:ext uri="{28A0092B-C50C-407E-A947-70E740481C1C}">
                <a14:useLocalDpi xmlns:a14="http://schemas.microsoft.com/office/drawing/2010/main" val="0"/>
              </a:ext>
            </a:extLst>
          </a:blip>
          <a:srcRect l="22509" r="17199"/>
          <a:stretch>
            <a:fillRect/>
          </a:stretch>
        </p:blipFill>
        <p:spPr>
          <a:xfrm>
            <a:off x="987929" y="2051897"/>
            <a:ext cx="1498743" cy="1654919"/>
          </a:xfrm>
          <a:prstGeom prst="rect">
            <a:avLst/>
          </a:prstGeom>
        </p:spPr>
      </p:pic>
      <p:pic>
        <p:nvPicPr>
          <p:cNvPr id="14" name="Picture 13" descr="A screenshot of a person smiling&#10;&#10;AI-generated content may be incorrect.">
            <a:extLst>
              <a:ext uri="{FF2B5EF4-FFF2-40B4-BE49-F238E27FC236}">
                <a16:creationId xmlns:a16="http://schemas.microsoft.com/office/drawing/2014/main" id="{8BDF80DD-E57F-9DA9-84CF-754B186EE1E0}"/>
              </a:ext>
            </a:extLst>
          </p:cNvPr>
          <p:cNvPicPr>
            <a:picLocks noChangeAspect="1"/>
          </p:cNvPicPr>
          <p:nvPr/>
        </p:nvPicPr>
        <p:blipFill>
          <a:blip r:embed="rId5">
            <a:extLst>
              <a:ext uri="{28A0092B-C50C-407E-A947-70E740481C1C}">
                <a14:useLocalDpi xmlns:a14="http://schemas.microsoft.com/office/drawing/2010/main" val="0"/>
              </a:ext>
            </a:extLst>
          </a:blip>
          <a:srcRect t="21920" b="20113"/>
          <a:stretch>
            <a:fillRect/>
          </a:stretch>
        </p:blipFill>
        <p:spPr>
          <a:xfrm>
            <a:off x="9005300" y="1351607"/>
            <a:ext cx="1985160" cy="2491423"/>
          </a:xfrm>
          <a:prstGeom prst="rect">
            <a:avLst/>
          </a:prstGeom>
        </p:spPr>
      </p:pic>
    </p:spTree>
    <p:extLst>
      <p:ext uri="{BB962C8B-B14F-4D97-AF65-F5344CB8AC3E}">
        <p14:creationId xmlns:p14="http://schemas.microsoft.com/office/powerpoint/2010/main" val="307924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4AAEF-FFFC-4D02-8E01-39733404A943}"/>
              </a:ext>
            </a:extLst>
          </p:cNvPr>
          <p:cNvSpPr>
            <a:spLocks noGrp="1"/>
          </p:cNvSpPr>
          <p:nvPr>
            <p:ph type="title"/>
          </p:nvPr>
        </p:nvSpPr>
        <p:spPr/>
        <p:txBody>
          <a:bodyPr/>
          <a:lstStyle/>
          <a:p>
            <a:r>
              <a:rPr lang="en-US" dirty="0"/>
              <a:t>User / Customer</a:t>
            </a:r>
          </a:p>
        </p:txBody>
      </p:sp>
      <p:sp>
        <p:nvSpPr>
          <p:cNvPr id="3" name="Content Placeholder 2">
            <a:extLst>
              <a:ext uri="{FF2B5EF4-FFF2-40B4-BE49-F238E27FC236}">
                <a16:creationId xmlns:a16="http://schemas.microsoft.com/office/drawing/2014/main" id="{95C42002-6CD1-4A60-B873-4164CDE4C052}"/>
              </a:ext>
            </a:extLst>
          </p:cNvPr>
          <p:cNvSpPr>
            <a:spLocks noGrp="1"/>
          </p:cNvSpPr>
          <p:nvPr>
            <p:ph idx="1"/>
          </p:nvPr>
        </p:nvSpPr>
        <p:spPr/>
        <p:txBody>
          <a:bodyPr/>
          <a:lstStyle/>
          <a:p>
            <a:r>
              <a:rPr lang="en-GB" sz="1800" dirty="0"/>
              <a:t>The website is designed for small grocery and produce vendors (“mama </a:t>
            </a:r>
            <a:r>
              <a:rPr lang="en-GB" sz="1800" dirty="0" err="1"/>
              <a:t>mbogas</a:t>
            </a:r>
            <a:r>
              <a:rPr lang="en-GB" sz="1800" dirty="0"/>
              <a:t>”) who operate stalls in local markets. Their main “product” is perishable food items sold daily to </a:t>
            </a:r>
            <a:r>
              <a:rPr lang="en-GB" sz="1800" dirty="0" err="1"/>
              <a:t>neighborhood</a:t>
            </a:r>
            <a:r>
              <a:rPr lang="en-GB" sz="1800" dirty="0"/>
              <a:t> customers, often on informal credit. The purpose of the site is to give them a simple digital tool to record credit sales, track who owes them money, and follow up on repayments.</a:t>
            </a:r>
          </a:p>
          <a:p>
            <a:pPr marL="0" indent="0">
              <a:buNone/>
            </a:pPr>
            <a:r>
              <a:rPr lang="en-GB" sz="2000" b="1" dirty="0"/>
              <a:t>Roles of users</a:t>
            </a:r>
            <a:endParaRPr lang="en-GB" sz="2000" dirty="0"/>
          </a:p>
          <a:p>
            <a:r>
              <a:rPr lang="en-GB" sz="1800" dirty="0"/>
              <a:t>- </a:t>
            </a:r>
            <a:r>
              <a:rPr lang="en-GB" sz="1800" b="1" dirty="0"/>
              <a:t>Vendor</a:t>
            </a:r>
            <a:r>
              <a:rPr lang="en-GB" sz="1800" dirty="0"/>
              <a:t> – Logs in to manage their own customers, record credit sales and payments, and see dashboards and send reminders.</a:t>
            </a:r>
          </a:p>
          <a:p>
            <a:r>
              <a:rPr lang="en-GB" sz="1800" dirty="0"/>
              <a:t>- </a:t>
            </a:r>
            <a:r>
              <a:rPr lang="en-GB" sz="1800" b="1" dirty="0"/>
              <a:t>Admin</a:t>
            </a:r>
            <a:r>
              <a:rPr lang="en-GB" sz="1800" dirty="0"/>
              <a:t> – Logs in to oversee all vendors, view system‑wide metrics, and manage vendor accounts (activate/deactivate and update vendor details).</a:t>
            </a:r>
            <a:br>
              <a:rPr lang="en-US" sz="1800" i="1" dirty="0">
                <a:latin typeface="Calibri" panose="020F0502020204030204" pitchFamily="34" charset="0"/>
                <a:ea typeface="Calibri" panose="020F0502020204030204" pitchFamily="34" charset="0"/>
                <a:cs typeface="Arial" panose="020B0604020202020204" pitchFamily="34" charset="0"/>
              </a:rPr>
            </a:br>
            <a:endParaRPr lang="en-US" sz="1800" i="1"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2113497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730D1-743D-4000-9929-9878F282E703}"/>
              </a:ext>
            </a:extLst>
          </p:cNvPr>
          <p:cNvSpPr>
            <a:spLocks noGrp="1"/>
          </p:cNvSpPr>
          <p:nvPr>
            <p:ph type="title"/>
          </p:nvPr>
        </p:nvSpPr>
        <p:spPr/>
        <p:txBody>
          <a:bodyPr/>
          <a:lstStyle/>
          <a:p>
            <a:r>
              <a:rPr lang="en-US" dirty="0"/>
              <a:t>Main Functions of the Website</a:t>
            </a:r>
          </a:p>
        </p:txBody>
      </p:sp>
      <p:sp>
        <p:nvSpPr>
          <p:cNvPr id="3" name="Content Placeholder 2">
            <a:extLst>
              <a:ext uri="{FF2B5EF4-FFF2-40B4-BE49-F238E27FC236}">
                <a16:creationId xmlns:a16="http://schemas.microsoft.com/office/drawing/2014/main" id="{9F74E113-BC91-4D17-8467-AD7ACB6061A4}"/>
              </a:ext>
            </a:extLst>
          </p:cNvPr>
          <p:cNvSpPr>
            <a:spLocks noGrp="1"/>
          </p:cNvSpPr>
          <p:nvPr>
            <p:ph idx="1"/>
          </p:nvPr>
        </p:nvSpPr>
        <p:spPr/>
        <p:txBody>
          <a:bodyPr>
            <a:normAutofit/>
          </a:bodyPr>
          <a:lstStyle/>
          <a:p>
            <a:r>
              <a:rPr lang="en-GB" sz="1800" b="1" dirty="0"/>
              <a:t>Customer Management</a:t>
            </a:r>
            <a:r>
              <a:rPr lang="en-GB" sz="1800" dirty="0"/>
              <a:t> – Add and edit customers with name, phone number, and optional email; maintain a running balance for each customer.</a:t>
            </a:r>
          </a:p>
          <a:p>
            <a:r>
              <a:rPr lang="en-GB" sz="1800" b="1" dirty="0"/>
              <a:t>Credit Sales &amp; Payments</a:t>
            </a:r>
            <a:r>
              <a:rPr lang="en-GB" sz="1800" dirty="0"/>
              <a:t> – Record new credit sales and repayments; automatically update customer balances and vendor total receivables.</a:t>
            </a:r>
          </a:p>
          <a:p>
            <a:r>
              <a:rPr lang="en-GB" sz="1800" b="1" dirty="0"/>
              <a:t>Dashboards &amp; Reporting</a:t>
            </a:r>
            <a:r>
              <a:rPr lang="en-GB" sz="1800" dirty="0"/>
              <a:t> – Show vendor dashboards (total receivables, number of customers, top debtors) and admin dashboards (number of vendors, total customers, system‑wide debt).</a:t>
            </a:r>
          </a:p>
          <a:p>
            <a:r>
              <a:rPr lang="en-GB" sz="1800" b="1" dirty="0"/>
              <a:t>Email Payment Reminders</a:t>
            </a:r>
            <a:r>
              <a:rPr lang="en-GB" sz="1800" dirty="0"/>
              <a:t> – Allow vendors to send individual or bulk email reminders to customers with outstanding balances, using a professional SendGrid email template.</a:t>
            </a:r>
          </a:p>
          <a:p>
            <a:pPr marL="0" indent="0">
              <a:buNone/>
            </a:pPr>
            <a:endParaRPr lang="en-US" dirty="0"/>
          </a:p>
        </p:txBody>
      </p:sp>
    </p:spTree>
    <p:extLst>
      <p:ext uri="{BB962C8B-B14F-4D97-AF65-F5344CB8AC3E}">
        <p14:creationId xmlns:p14="http://schemas.microsoft.com/office/powerpoint/2010/main" val="3537379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FA18-7093-430E-BD23-BCEBC00BC538}"/>
              </a:ext>
            </a:extLst>
          </p:cNvPr>
          <p:cNvSpPr>
            <a:spLocks noGrp="1"/>
          </p:cNvSpPr>
          <p:nvPr>
            <p:ph type="title"/>
          </p:nvPr>
        </p:nvSpPr>
        <p:spPr/>
        <p:txBody>
          <a:bodyPr/>
          <a:lstStyle/>
          <a:p>
            <a:r>
              <a:rPr lang="en-US" dirty="0"/>
              <a:t>Architecture</a:t>
            </a:r>
          </a:p>
        </p:txBody>
      </p:sp>
      <p:pic>
        <p:nvPicPr>
          <p:cNvPr id="5" name="Content Placeholder 4">
            <a:extLst>
              <a:ext uri="{FF2B5EF4-FFF2-40B4-BE49-F238E27FC236}">
                <a16:creationId xmlns:a16="http://schemas.microsoft.com/office/drawing/2014/main" id="{C9CBD35F-8147-8C80-4A65-7DA43050F9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40997" y="1825625"/>
            <a:ext cx="3110005" cy="4351338"/>
          </a:xfrm>
        </p:spPr>
      </p:pic>
    </p:spTree>
    <p:extLst>
      <p:ext uri="{BB962C8B-B14F-4D97-AF65-F5344CB8AC3E}">
        <p14:creationId xmlns:p14="http://schemas.microsoft.com/office/powerpoint/2010/main" val="2127009124"/>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923D41"/>
      </a:dk2>
      <a:lt2>
        <a:srgbClr val="AAC3EC"/>
      </a:lt2>
      <a:accent1>
        <a:srgbClr val="4472C4"/>
      </a:accent1>
      <a:accent2>
        <a:srgbClr val="C56728"/>
      </a:accent2>
      <a:accent3>
        <a:srgbClr val="A5A5A5"/>
      </a:accent3>
      <a:accent4>
        <a:srgbClr val="FFC000"/>
      </a:accent4>
      <a:accent5>
        <a:srgbClr val="5B9BD5"/>
      </a:accent5>
      <a:accent6>
        <a:srgbClr val="C09B7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43679034-79EA-4C15-9A71-1EF1E1074EAF}" vid="{7FD254AA-BBEA-4868-8697-6021C48FEDDC}"/>
    </a:ext>
  </a:extLst>
</a:theme>
</file>

<file path=docProps/app.xml><?xml version="1.0" encoding="utf-8"?>
<Properties xmlns="http://schemas.openxmlformats.org/officeDocument/2006/extended-properties" xmlns:vt="http://schemas.openxmlformats.org/officeDocument/2006/docPropsVTypes">
  <TotalTime>78</TotalTime>
  <Words>487</Words>
  <Application>Microsoft Office PowerPoint</Application>
  <PresentationFormat>Widescreen</PresentationFormat>
  <Paragraphs>24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Mathew Kamande Macharia</vt:lpstr>
      <vt:lpstr>Mathew Macharia is developing a data‑powered website to help small market vendors (“mama mbogas”) in Kenya track credit sales and customer debts, so they stop losing money to forgotten or poorly recorded credit. </vt:lpstr>
      <vt:lpstr>PowerPoint Presentation</vt:lpstr>
      <vt:lpstr>User / Customer</vt:lpstr>
      <vt:lpstr>Main Functions of the Website</vt:lpstr>
      <vt:lpstr>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&lt;Letter&gt;</dc:title>
  <dc:creator>Todd Warren</dc:creator>
  <cp:lastModifiedBy>Mathew Kamande Macharia</cp:lastModifiedBy>
  <cp:revision>21</cp:revision>
  <dcterms:created xsi:type="dcterms:W3CDTF">2020-09-23T20:07:55Z</dcterms:created>
  <dcterms:modified xsi:type="dcterms:W3CDTF">2025-12-18T12:56:27Z</dcterms:modified>
</cp:coreProperties>
</file>